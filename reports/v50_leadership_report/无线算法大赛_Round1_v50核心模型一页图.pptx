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76dd21994447c1" /><Relationship Type="http://schemas.openxmlformats.org/officeDocument/2006/relationships/extended-properties" Target="/docProps/app.xml" Id="R514dd176cb3845c6" /><Relationship Type="http://schemas.openxmlformats.org/officeDocument/2006/relationships/officeDocument" Target="/ppt/presentation.xml" Id="Rb5f3cccef78343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77da66b9514e96"/>
  </p:sldMasterIdLst>
  <p:notesMasterIdLst>
    <p:notesMasterId xmlns:r="http://schemas.openxmlformats.org/officeDocument/2006/relationships" r:id="Rc28b59fd4104474b"/>
  </p:notesMasterIdLst>
  <p:sldIdLst>
    <p:sldId xmlns:r="http://schemas.openxmlformats.org/officeDocument/2006/relationships" id="256" r:id="R1271d66f644b4b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92aa70cdaf49c2" /><Relationship Type="http://schemas.openxmlformats.org/officeDocument/2006/relationships/slideMaster" Target="/ppt/slideMasters/slideMaster1.xml" Id="Red77da66b9514e96" /><Relationship Type="http://schemas.openxmlformats.org/officeDocument/2006/relationships/notesMaster" Target="/ppt/notesMasters/notesMaster1.xml" Id="Rc28b59fd4104474b" /><Relationship Type="http://schemas.openxmlformats.org/officeDocument/2006/relationships/presProps" Target="/ppt/presProps.xml" Id="R657ba1e7ac1c45c8" /><Relationship Type="http://schemas.openxmlformats.org/officeDocument/2006/relationships/tableStyles" Target="/ppt/tableStyles.xml" Id="R3a13972c36a34c4f" /><Relationship Type="http://schemas.openxmlformats.org/officeDocument/2006/relationships/slide" Target="/ppt/slides/slide1.xml" Id="R1271d66f644b4b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fe50b16e5743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ede7c2dfd64a8a" /><Relationship Type="http://schemas.openxmlformats.org/officeDocument/2006/relationships/notesMaster" Target="/ppt/notesMasters/notesMaster1.xml" Id="R03d6e6746d6f45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这一页只强调 v50 最关键的两件事。左侧先把约 238 万点 PLY 点云转换成 2 米栅格，并围绕基站到终端的传播走廊、墙面材质、终端环形环境、旋转天际线和多尺度场提取 209 维地图描述。它不是直接预测信道，而是重定义测试点与训练点之间的相似性。右侧是在这个地图条件空间里做普通克里金：选择 K 个邻居，用第 K 个距离确定自适应带宽，构造指数或 Matérn 协方差，在对角线上加入 nugget，解带权重和为一约束的增广方程，最后插值得到 2560 维紧凑谱。一句话概括：点云决定谁是邻居，克里金决定每个邻居贡献多少。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v39/physical_ai/map_encoder.py</a:t>
            </a:r>
          </a:p>
          <a:p xmlns:a="http://schemas.openxmlformats.org/drawingml/2006/main">
            <a:r>
              <a:t>- v39/physical_ai/advanced_map.py</a:t>
            </a:r>
          </a:p>
          <a:p xmlns:a="http://schemas.openxmlformats.org/drawingml/2006/main">
            <a:r>
              <a:t>- v39/physical_ai/spatial.py</a:t>
            </a:r>
          </a:p>
          <a:p xmlns:a="http://schemas.openxmlformats.org/drawingml/2006/main">
            <a:r>
              <a:t>- v39/predict.py</a:t>
            </a:r>
          </a:p>
          <a:p xmlns:a="http://schemas.openxmlformats.org/drawingml/2006/main">
            <a:r>
              <a:t>- 用户提供的两张版式参考图片（仅用于视觉结构参考）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99d4bae0c49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d310baf2c94834" /><Relationship Type="http://schemas.openxmlformats.org/officeDocument/2006/relationships/slideLayout" Target="/ppt/slideLayouts/slideLayout1.xml" Id="R3e6beda703144f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6beda703144f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106b11c554ee0" /><Relationship Type="http://schemas.openxmlformats.org/officeDocument/2006/relationships/notesSlide" Target="/ppt/notesSlides/notesSlide1.xml" Id="R9d4d0a172f7442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8AFBF64-A16E-4D64-A291-76307766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525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F20B1-BAF2-49E9-82A9-B44BE28E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85900"/>
            <a:ext cx="1905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95B8A-6FB4-4FA3-9E2D-D63DCF12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9075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93A60-DDE0-487B-B691-24FFA57D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AA293-29F2-4D7D-8B14-C74C6698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66950"/>
            <a:ext cx="2857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B060D-55C9-4CE0-94B9-BFA23096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1A0BE-830C-4F66-B031-467DA6AB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79C53-A25C-426B-A758-9E4A4120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A593C-1C26-43F9-AD65-F1CC9195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65479-B2BD-4C9F-B583-6856CB8F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297B3-9BCD-40C0-B02B-2E877C51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904C8-5BD8-41C0-BDAE-5D0CE2D0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A04E0-440D-4117-83CE-F46C0298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95650"/>
            <a:ext cx="704850" cy="704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83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B3B77-6F9F-48A0-BEB1-6E0400F7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3813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0BF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D153A4-D0A2-447C-A11F-1171725D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57575"/>
            <a:ext cx="381000" cy="381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0BF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EA131-B3C7-4463-9F74-D6864A51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24250"/>
            <a:ext cx="247650" cy="247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0BF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A676C-D0DA-47B1-A1A4-A6E87592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F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FE5"/>
                </a:solidFill>
                <a:latin typeface="Microsoft YaHei"/>
                <a:ea typeface="Microsoft YaHei"/>
                <a:cs typeface="Microsoft YaHei"/>
              </a:rPr>
              <a:t>ROUND 1 · FINAL v50</a:t>
            </a:r>
          </a:p>
        </p:txBody>
      </p:sp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26B274-F939-4BDB-B438-944A60C6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点云决定“谁相似”，克里金决定“贡献多少”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B90B0A-7014-4C40-BFC8-4FFE51AB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4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rPr>
              <a:t>核心模型一页图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A5709-E210-49A0-BB60-E31A56BD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FF6FD"/>
          </a:solidFill>
          <a:ln xmlns:a="http://schemas.openxmlformats.org/drawingml/2006/main" w="13335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F44D8E-058C-44E4-8EE5-178D86E2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78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6F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FE5"/>
                </a:solidFill>
                <a:latin typeface="Microsoft YaHei"/>
                <a:ea typeface="Microsoft YaHei"/>
                <a:cs typeface="Microsoft YaHei"/>
              </a:rPr>
              <a:t>原始点云 → 传播环境描述 → 地图条件邻域 → 普通克里金权重 → 2,560 维 PAS/PDP 紧凑谱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D3613D-012C-4CAC-BB1E-19FC4A03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6F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FE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CD4844-6E47-4355-9A25-638CD2FE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859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点云如何变成可学习的空间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1A9BA3-B9A1-4700-A816-5141F427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23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6FD"/>
          </a:solidFill>
          <a:ln xmlns:a="http://schemas.openxmlformats.org/drawingml/2006/main" w="13335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DD180E-29A5-4CF0-BEF5-35F9F8B9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009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PLY 点云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786A5F-1694-4789-9C00-99322959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rPr>
              <a:t>约 238 万点</a:t>
            </a:r>
          </a:p>
          <a:p xmlns:a="http://schemas.openxmlformats.org/drawingml/2006/main">
            <a:pPr algn="ctr">
              <a:defRPr sz="1200" b="0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rPr>
              <a:t>x,y,z,nx,ny,nz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2F9F4-0B7F-4A61-AF28-DA6D0BBA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43100"/>
            <a:ext cx="914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3335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7B51AF-8A5C-4903-8081-0DE436BD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28825"/>
            <a:ext cx="685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29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695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69512"/>
                </a:solidFill>
                <a:latin typeface="Microsoft YaHei"/>
                <a:ea typeface="Microsoft YaHei"/>
                <a:cs typeface="Microsoft YaHei"/>
              </a:rPr>
              <a:t>2 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779CBA-3A0B-4104-BB43-7FE58F28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336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125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rPr>
              <a:t>XY 栅格</a:t>
            </a:r>
          </a:p>
          <a:p xmlns:a="http://schemas.openxmlformats.org/drawingml/2006/main">
            <a:pPr algn="ctr">
              <a:defRPr sz="1200" b="0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rPr>
              <a:t>双线性查询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443AD2-A2BA-44D9-A5B4-5EFA724F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43100"/>
            <a:ext cx="876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6FD"/>
          </a:solidFill>
          <a:ln xmlns:a="http://schemas.openxmlformats.org/drawingml/2006/main" w="13335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F9308A-5E17-431C-96ED-FEAC35C8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383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835A"/>
                </a:solidFill>
                <a:latin typeface="Microsoft YaHei"/>
                <a:ea typeface="Microsoft YaHei"/>
                <a:cs typeface="Microsoft YaHei"/>
              </a:rPr>
              <a:t>209 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2E7147-4F96-4426-AD74-032ADBC8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431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9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rPr>
              <a:t>高级地图</a:t>
            </a:r>
          </a:p>
          <a:p xmlns:a="http://schemas.openxmlformats.org/drawingml/2006/main">
            <a:pPr algn="ctr">
              <a:defRPr sz="1200" b="0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rPr>
              <a:t>物理描述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D081AF-AC6B-42B2-AB96-74FBA3C4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337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84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6F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FE5"/>
                </a:solidFill>
                <a:latin typeface="Microsoft YaHei"/>
                <a:ea typeface="Microsoft YaHei"/>
                <a:cs typeface="Microsoft YaHei"/>
              </a:rPr>
              <a:t>BS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4A12C7-4861-44D2-8CAE-AEBA8826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FE5"/>
          </a:solidFill>
          <a:ln xmlns:a="http://schemas.openxmlformats.org/drawingml/2006/main" w="9525">
            <a:solidFill>
              <a:srgbClr val="126F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A8810F-326E-4E94-9F97-44DAD4EE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5337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835A"/>
                </a:solidFill>
                <a:latin typeface="Microsoft YaHei"/>
                <a:ea typeface="Microsoft YaHei"/>
                <a:cs typeface="Microsoft YaHei"/>
              </a:rPr>
              <a:t>UE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2F8DCC-41BA-4DF2-9960-82A058D3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52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35A"/>
          </a:solidFill>
          <a:ln xmlns:a="http://schemas.openxmlformats.org/drawingml/2006/main" w="9525">
            <a:solidFill>
              <a:srgbClr val="15835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95A9A6-9D91-45FE-8E86-1652A0D1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6F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6FE5"/>
                </a:solidFill>
                <a:latin typeface="Microsoft YaHei"/>
                <a:ea typeface="Microsoft YaHei"/>
                <a:cs typeface="Microsoft YaHei"/>
              </a:rPr>
              <a:t>7 条传播走廊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C537BC-A54B-49C1-A05E-21AD099B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100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835A"/>
                </a:solidFill>
                <a:latin typeface="Microsoft YaHei"/>
                <a:ea typeface="Microsoft YaHei"/>
                <a:cs typeface="Microsoft YaHei"/>
              </a:rPr>
              <a:t>5 个终端环形尺度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18688E-CB14-4598-8255-E1B7BE57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3829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3335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F78F4E-D8E9-49E5-88EE-ED73FE7E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6F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6FE5"/>
                </a:solidFill>
                <a:latin typeface="Microsoft YaHei"/>
                <a:ea typeface="Microsoft YaHei"/>
                <a:cs typeface="Microsoft YaHei"/>
              </a:rPr>
              <a:t>209 维 =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91DD8D-D0F0-4411-8A1F-7378783A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4820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1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42 走廊遮挡  +  28 墙面材质</a:t>
            </a:r>
          </a:p>
          <a:p xmlns:a="http://schemas.openxmlformats.org/drawingml/2006/main">
            <a:pPr algn="l"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35 终端环形  +  96 旋转天际线  +  8 多尺度场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C86E70-54E7-45F1-8B3F-559AB96F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rPr>
              <a:t>方向对齐：天际线第 0 扇区始终朝向基站；</a:t>
            </a:r>
          </a:p>
          <a:p xmlns:a="http://schemas.openxmlformats.org/drawingml/2006/main">
            <a:pPr algn="l">
              <a:defRPr sz="1200" b="0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rPr>
              <a:t>不同场景具备一致物理含义。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B08DFD-51AD-457A-B92A-1E736D6B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3829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F6FD"/>
          </a:solidFill>
          <a:ln xmlns:a="http://schemas.openxmlformats.org/drawingml/2006/main" w="13335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5A79BB-9BC0-4EEE-9F9A-05AF930B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38825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835A"/>
                </a:solidFill>
                <a:latin typeface="Microsoft YaHei"/>
                <a:ea typeface="Microsoft YaHei"/>
                <a:cs typeface="Microsoft YaHei"/>
              </a:rPr>
              <a:t>输出：地图条件嵌入 z(q) —— 重定义“哪些训练点是真邻居”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BF1D5A-6882-4392-B86B-72DD80A1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24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6F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FE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3ADB41-95D9-49E2-875C-9A152D38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4859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普通克里金：从选邻居到求解增广方程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B5EDE3-FD2E-4440-8247-2FAAD599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85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rPr>
              <a:t>步骤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6EA5CE-71CB-433A-A254-F13B60B0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859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rPr>
              <a:t>操作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89507E-FE97-4CED-80F4-8E1D3821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859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rPr>
              <a:t>关键计算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C9AC3D-4539-4788-B81A-45D3FC3F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85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rPr>
              <a:t>物理作用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54ADD2-E3DD-4D64-8F85-C09C2947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66925"/>
            <a:ext cx="6438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3335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DAE115-8D31-4BF4-B0F7-A751782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81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FE5"/>
          </a:solidFill>
          <a:ln xmlns:a="http://schemas.openxmlformats.org/drawingml/2006/main" w="9525">
            <a:solidFill>
              <a:srgbClr val="126F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E53885-6DE9-4C18-BD8D-4428942A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09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83B3B2C-DAA7-44A8-894E-5B6243FE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24075"/>
            <a:ext cx="1447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选择 K 邻居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D07D1F0-F165-49AF-B137-C814EF4A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336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6FE5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26FE5"/>
                </a:solidFill>
                <a:latin typeface="Consolas"/>
                <a:ea typeface="Consolas"/>
                <a:cs typeface="Consolas"/>
              </a:rPr>
              <a:t>K = 16 / 24 / 32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54EE00-2719-4EE4-895F-F5707831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24075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42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rPr>
              <a:t>在 z(q) 空间搜索，避开“位置近但环境不同”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B67694E-458F-41D8-8F32-0C4EDE39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28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512"/>
          </a:solidFill>
          <a:ln xmlns:a="http://schemas.openxmlformats.org/drawingml/2006/main" w="9525">
            <a:solidFill>
              <a:srgbClr val="D6951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D61656-439C-4DF0-9C81-167E313D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57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6B335C-ECD1-4378-907A-7BA84340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71775"/>
            <a:ext cx="1447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自适应带宽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60EDC84-1EAA-477C-B2A4-3AAF4C28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81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9512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D69512"/>
                </a:solidFill>
                <a:latin typeface="Consolas"/>
                <a:ea typeface="Consolas"/>
                <a:cs typeface="Consolas"/>
              </a:rPr>
              <a:t>h = dK · scale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A10608-88EA-4984-AC45-AE6CB534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71775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rPr>
              <a:t>密集区自动缩小，稀疏区自动放宽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C67EF8E-1476-4FDF-B6AA-937580F9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62325"/>
            <a:ext cx="6438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3335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994017A-B934-4006-A087-0279D84B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35A"/>
          </a:solidFill>
          <a:ln xmlns:a="http://schemas.openxmlformats.org/drawingml/2006/main" w="9525">
            <a:solidFill>
              <a:srgbClr val="15835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D8BAD1A-461B-4FE4-A989-CACBC83E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505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C1F125-E4C9-4108-8080-6026602A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19475"/>
            <a:ext cx="1447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构造协方差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F140F5-0AE2-4763-BD17-CFB42A39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29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835A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5835A"/>
                </a:solidFill>
                <a:latin typeface="Consolas"/>
                <a:ea typeface="Consolas"/>
                <a:cs typeface="Consolas"/>
              </a:rPr>
              <a:t>C(d): Exp / Matern32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097D0B5-26A5-4EBA-A56F-11615248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19475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rPr>
              <a:t>表达邻居之间是否提供冗余信息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6EFAF83-9CAF-4387-A474-F00AC55B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124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3C"/>
          </a:solidFill>
          <a:ln xmlns:a="http://schemas.openxmlformats.org/drawingml/2006/main" w="9525">
            <a:solidFill>
              <a:srgbClr val="C83C3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75394B-7CCC-4BFB-B64F-4B060361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1529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7FBCBA4-FA99-4061-8841-E6E55A61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67175"/>
            <a:ext cx="1447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解增广方程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281D531-C27A-4F1F-9BAC-E419EA49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767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3C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C83C3C"/>
                </a:solidFill>
                <a:latin typeface="Consolas"/>
                <a:ea typeface="Consolas"/>
                <a:cs typeface="Consolas"/>
              </a:rPr>
              <a:t>[C+nI  1; 1ᵀ  0]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F818838-4357-4BA9-A123-63E17DC5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67175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rPr>
              <a:t>加入无偏约束 Σw=1，并用 nugget 稳定求解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956D859-C28C-4170-B0E0-9C1E850B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57725"/>
            <a:ext cx="6438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3335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17433D7-5B97-4C42-B158-F1325ECC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772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FE5"/>
          </a:solidFill>
          <a:ln xmlns:a="http://schemas.openxmlformats.org/drawingml/2006/main" w="9525">
            <a:solidFill>
              <a:srgbClr val="126F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15119C2-4720-4A41-BB45-CA7B9F7A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00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2073022-E972-4CD3-80DC-792FE6CE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714875"/>
            <a:ext cx="1447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插值紧凑谱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8F332D9-8068-4629-9340-1EA8C33C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244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6FE5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26FE5"/>
                </a:solidFill>
                <a:latin typeface="Consolas"/>
                <a:ea typeface="Consolas"/>
                <a:cs typeface="Consolas"/>
              </a:rPr>
              <a:t>f̂(q) = Σ wk fk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569FB62-4D14-4605-B09F-5CCA2E6A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14875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rPr>
              <a:t>一次获得 PAS 1,024 维与 PDP 1,536 维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D6D8F5E-35F5-439E-880C-615A9DC6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10200"/>
            <a:ext cx="6438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6FD"/>
          </a:solidFill>
          <a:ln xmlns:a="http://schemas.openxmlformats.org/drawingml/2006/main" w="13335">
            <a:solidFill>
              <a:srgbClr val="C9D3D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82F17BC-C00D-4749-925E-4A6A05CC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5054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6F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FE5"/>
                </a:solidFill>
                <a:latin typeface="Microsoft YaHei"/>
                <a:ea typeface="Microsoft YaHei"/>
                <a:cs typeface="Microsoft YaHei"/>
              </a:rPr>
              <a:t>增广线性系统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FE1C4E0-AF34-469C-81F0-17A13258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388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89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0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11820"/>
                </a:solidFill>
                <a:latin typeface="Consolas"/>
                <a:ea typeface="Consolas"/>
                <a:cs typeface="Consolas"/>
              </a:rPr>
              <a:t>[Cnn+nugget·I  1; 1ᵀ  0] · [w; λ] = [Cq; 1]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EDAB2AB-CD79-4274-9B20-3EFAE6A3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054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835A"/>
                </a:solidFill>
                <a:latin typeface="Microsoft YaHei"/>
                <a:ea typeface="Microsoft YaHei"/>
                <a:cs typeface="Microsoft YaHei"/>
              </a:rPr>
              <a:t>15 套配置形成专家库</a:t>
            </a:r>
          </a:p>
          <a:p xmlns:a="http://schemas.openxmlformats.org/drawingml/2006/main">
            <a:pPr algn="ctr">
              <a:defRPr sz="1125" b="1">
                <a:solidFill>
                  <a:srgbClr val="15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835A"/>
                </a:solidFill>
                <a:latin typeface="Microsoft YaHei"/>
                <a:ea typeface="Microsoft YaHei"/>
                <a:cs typeface="Microsoft YaHei"/>
              </a:rPr>
              <a:t>按 4 个 PAS 组 / 8 个 PDP 组门控融合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BC7BA20-F89E-403F-8026-F711EEC1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6F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FE5"/>
                </a:solidFill>
                <a:latin typeface="Microsoft YaHei"/>
                <a:ea typeface="Microsoft YaHei"/>
                <a:cs typeface="Microsoft YaHei"/>
              </a:rPr>
              <a:t>核心关系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6D21B2B-737C-46AF-919D-4B0430DD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点云特征决定距离空间；克里金相关性决定邻居权重——两者共同把复杂传播环境转换为可解释的局部谱预测。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9145BC9-1A28-48E7-B178-85656382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675"/>
                </a:solidFill>
                <a:latin typeface="Microsoft YaHei"/>
                <a:ea typeface="Microsoft YaHei"/>
                <a:cs typeface="Microsoft YaHei"/>
              </a:rPr>
              <a:t>v50</a:t>
            </a:r>
          </a:p>
        </p:txBody>
      </p:sp>
    </p:spTree>
    <p:extLst>
      <p:ext uri="{BB962C8B-B14F-4D97-AF65-F5344CB8AC3E}">
        <p14:creationId xmlns:p14="http://schemas.microsoft.com/office/powerpoint/2010/main" val="5319803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2026-08-26T04:07:18.5310000Z</dcterms:created>
  <dcterms:modified xsi:type="dcterms:W3CDTF">2026-08-26T04:07:18.5310000Z</dcterms:modified>
</coreProperties>
</file>